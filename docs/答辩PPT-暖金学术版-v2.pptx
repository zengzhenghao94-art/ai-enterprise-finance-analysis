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54864" cy="347472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601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44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AI 赋能企业经营分析平台</a:t>
            </a:r>
            <a:endParaRPr altLang="zh-CN"/>
          </a:p>
        </p:txBody>
      </p:sp>
      <p:sp>
        <p:nvSpPr>
          <p:cNvPr id="5" name="TextBox 4"/>
          <p:cNvSpPr txBox="1"/>
          <p:nvPr/>
        </p:nvSpPr>
        <p:spPr>
          <a:xfrm>
            <a:off x="1463040" y="2880360"/>
            <a:ext cx="9601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400" b="0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从「人找数据」到「数据找人」</a:t>
            </a:r>
            <a:endParaRPr altLang="zh-CN"/>
          </a:p>
        </p:txBody>
      </p:sp>
      <p:sp>
        <p:nvSpPr>
          <p:cNvPr id="6" name="Rectangle 5"/>
          <p:cNvSpPr/>
          <p:nvPr/>
        </p:nvSpPr>
        <p:spPr>
          <a:xfrm>
            <a:off x="1463040" y="3520440"/>
            <a:ext cx="2743200" cy="254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84048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🛡️  数据哨兵</a:t>
            </a:r>
            <a:endParaRPr altLang="zh-CN"/>
          </a:p>
        </p:txBody>
      </p:sp>
      <p:sp>
        <p:nvSpPr>
          <p:cNvPr id="8" name="TextBox 7"/>
          <p:cNvSpPr txBox="1"/>
          <p:nvPr/>
        </p:nvSpPr>
        <p:spPr>
          <a:xfrm>
            <a:off x="1463040" y="420624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ML 自动发现异常</a:t>
            </a:r>
            <a:endParaRPr altLang="zh-CN"/>
          </a:p>
        </p:txBody>
      </p:sp>
      <p:sp>
        <p:nvSpPr>
          <p:cNvPr id="9" name="TextBox 8"/>
          <p:cNvSpPr txBox="1"/>
          <p:nvPr/>
        </p:nvSpPr>
        <p:spPr>
          <a:xfrm>
            <a:off x="4937760" y="384048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🌉  数据翻译官</a:t>
            </a:r>
            <a:endParaRPr altLang="zh-CN"/>
          </a:p>
        </p:txBody>
      </p:sp>
      <p:sp>
        <p:nvSpPr>
          <p:cNvPr id="10" name="TextBox 9"/>
          <p:cNvSpPr txBox="1"/>
          <p:nvPr/>
        </p:nvSpPr>
        <p:spPr>
          <a:xfrm>
            <a:off x="4937760" y="420624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自然语言追问数据</a:t>
            </a:r>
            <a:endParaRPr altLang="zh-CN"/>
          </a:p>
        </p:txBody>
      </p:sp>
      <p:sp>
        <p:nvSpPr>
          <p:cNvPr id="11" name="TextBox 10"/>
          <p:cNvSpPr txBox="1"/>
          <p:nvPr/>
        </p:nvSpPr>
        <p:spPr>
          <a:xfrm>
            <a:off x="8412480" y="3840480"/>
            <a:ext cx="3108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📝  报告写手</a:t>
            </a:r>
            <a:endParaRPr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8412480" y="420624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一键生成简报</a:t>
            </a:r>
            <a:endParaRPr altLang="zh-CN"/>
          </a:p>
        </p:txBody>
      </p:sp>
      <p:sp>
        <p:nvSpPr>
          <p:cNvPr id="13" name="TextBox 12"/>
          <p:cNvSpPr txBox="1"/>
          <p:nvPr/>
        </p:nvSpPr>
        <p:spPr>
          <a:xfrm>
            <a:off x="1463040" y="57607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6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 · 2026 年 7 月</a:t>
            </a:r>
            <a:endParaRPr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1 / 14 页</a:t>
            </a:r>
            <a:endParaRPr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一个月度经营分析会，准备 3 天。追问一个问题，等 20 分钟。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747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8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🔴  发现异常</a:t>
            </a:r>
            <a:endParaRPr altLang="zh-CN"/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3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财务月底翻报表，靠经验「感觉不对劲」</a:t>
            </a:r>
            <a:endParaRPr altLang="zh-CN"/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000" b="1">
                <a:solidFill>
                  <a:srgbClr val="7A1525"/>
                </a:solidFill>
                <a:latin typeface="微软雅黑 Light" panose="020B0502040204020203" charset="-122"/>
              </a:defRPr>
            </a:pPr>
            <a:r>
              <a:rPr altLang="zh-CN"/>
              <a:t>⏱ 滞后 2-4 周</a:t>
            </a:r>
            <a:endParaRPr altLang="zh-CN"/>
          </a:p>
        </p:txBody>
      </p:sp>
      <p:sp>
        <p:nvSpPr>
          <p:cNvPr id="10" name="Rounded Rectangle 9"/>
          <p:cNvSpPr/>
          <p:nvPr/>
        </p:nvSpPr>
        <p:spPr>
          <a:xfrm>
            <a:off x="4480559" y="1828800"/>
            <a:ext cx="34747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10312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8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🟠  追问数据</a:t>
            </a:r>
            <a:endParaRPr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4754879" y="265176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3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管理层打电话 → ERP → 导出 → 透视表</a:t>
            </a:r>
            <a:endParaRPr altLang="zh-CN"/>
          </a:p>
        </p:txBody>
      </p:sp>
      <p:sp>
        <p:nvSpPr>
          <p:cNvPr id="13" name="TextBox 12"/>
          <p:cNvSpPr txBox="1"/>
          <p:nvPr/>
        </p:nvSpPr>
        <p:spPr>
          <a:xfrm>
            <a:off x="4754879" y="38404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000" b="1">
                <a:solidFill>
                  <a:srgbClr val="7A1525"/>
                </a:solidFill>
                <a:latin typeface="微软雅黑 Light" panose="020B0502040204020203" charset="-122"/>
              </a:defRPr>
            </a:pPr>
            <a:r>
              <a:rPr altLang="zh-CN"/>
              <a:t>⏱ 至少 20 分钟</a:t>
            </a:r>
            <a:endParaRPr altLang="zh-CN"/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474720" cy="2926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103120"/>
            <a:ext cx="2926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8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🟡  写报告</a:t>
            </a:r>
            <a:endParaRPr altLang="zh-CN"/>
          </a:p>
        </p:txBody>
      </p:sp>
      <p:sp>
        <p:nvSpPr>
          <p:cNvPr id="16" name="TextBox 15"/>
          <p:cNvSpPr txBox="1"/>
          <p:nvPr/>
        </p:nvSpPr>
        <p:spPr>
          <a:xfrm>
            <a:off x="8503920" y="265176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3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收集数据 → Excel 做表 → 手写分析 → 排 PPT</a:t>
            </a:r>
            <a:endParaRPr altLang="zh-CN"/>
          </a:p>
        </p:txBody>
      </p:sp>
      <p:sp>
        <p:nvSpPr>
          <p:cNvPr id="17" name="TextBox 16"/>
          <p:cNvSpPr txBox="1"/>
          <p:nvPr/>
        </p:nvSpPr>
        <p:spPr>
          <a:xfrm>
            <a:off x="8503920" y="384048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000" b="1">
                <a:solidFill>
                  <a:srgbClr val="7A1525"/>
                </a:solidFill>
                <a:latin typeface="微软雅黑 Light" panose="020B0502040204020203" charset="-122"/>
              </a:defRPr>
            </a:pPr>
            <a:r>
              <a:rPr altLang="zh-CN"/>
              <a:t>⏱ 2-3 天</a:t>
            </a:r>
            <a:endParaRPr altLang="zh-CN"/>
          </a:p>
        </p:txBody>
      </p:sp>
      <p:sp>
        <p:nvSpPr>
          <p:cNvPr id="18" name="TextBox 17"/>
          <p:cNvSpPr txBox="1"/>
          <p:nvPr/>
        </p:nvSpPr>
        <p:spPr>
          <a:xfrm>
            <a:off x="4297680" y="30175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2400" b="1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→</a:t>
            </a:r>
            <a:endParaRPr altLang="zh-CN"/>
          </a:p>
        </p:txBody>
      </p:sp>
      <p:sp>
        <p:nvSpPr>
          <p:cNvPr id="19" name="TextBox 18"/>
          <p:cNvSpPr txBox="1"/>
          <p:nvPr/>
        </p:nvSpPr>
        <p:spPr>
          <a:xfrm>
            <a:off x="8046720" y="301752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2400" b="1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→</a:t>
            </a:r>
            <a:endParaRPr altLang="zh-CN"/>
          </a:p>
        </p:txBody>
      </p:sp>
      <p:sp>
        <p:nvSpPr>
          <p:cNvPr id="20" name="Rectangle 19"/>
          <p:cNvSpPr/>
          <p:nvPr/>
        </p:nvSpPr>
        <p:spPr>
          <a:xfrm>
            <a:off x="731520" y="6263640"/>
            <a:ext cx="10698480" cy="1905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不是慢——是数据、分析、决策之间，每一段都靠人手动衔接。</a:t>
            </a:r>
            <a:endParaRPr altLang="zh-CN"/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2 / 14 页</a:t>
            </a:r>
            <a:endParaRPr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三个 AI 重构经营分析的三段链路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8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🛡️  数据哨兵</a:t>
            </a:r>
            <a:endParaRPr altLang="zh-CN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技术：Isolation Forest</a:t>
            </a:r>
            <a:endParaRPr altLang="zh-CN"/>
          </a:p>
        </p:txBody>
      </p:sp>
      <p:sp>
        <p:nvSpPr>
          <p:cNvPr id="9" name="Rectangle 8"/>
          <p:cNvSpPr/>
          <p:nvPr/>
        </p:nvSpPr>
        <p:spPr>
          <a:xfrm>
            <a:off x="822960" y="2926080"/>
            <a:ext cx="3017520" cy="1270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1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ML 自动发现异常</a:t>
            </a:r>
            <a:endParaRPr altLang="zh-CN"/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2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从「月底翻报表」</a:t>
            </a:r>
            <a:br>
              <a:rPr altLang="zh-CN"/>
            </a:br>
            <a:r>
              <a:rPr altLang="zh-CN"/>
              <a:t>到「实时预警」</a:t>
            </a:r>
            <a:endParaRPr altLang="zh-CN"/>
          </a:p>
        </p:txBody>
      </p:sp>
      <p:sp>
        <p:nvSpPr>
          <p:cNvPr id="12" name="Rectangle 11"/>
          <p:cNvSpPr/>
          <p:nvPr/>
        </p:nvSpPr>
        <p:spPr>
          <a:xfrm>
            <a:off x="548640" y="5303520"/>
            <a:ext cx="356616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56616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8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🌉  数据翻译官</a:t>
            </a:r>
            <a:endParaRPr altLang="zh-CN"/>
          </a:p>
        </p:txBody>
      </p:sp>
      <p:sp>
        <p:nvSpPr>
          <p:cNvPr id="15" name="TextBox 14"/>
          <p:cNvSpPr txBox="1"/>
          <p:nvPr/>
        </p:nvSpPr>
        <p:spPr>
          <a:xfrm>
            <a:off x="4663440" y="2514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技术：通义千问</a:t>
            </a:r>
            <a:endParaRPr altLang="zh-CN"/>
          </a:p>
        </p:txBody>
      </p:sp>
      <p:sp>
        <p:nvSpPr>
          <p:cNvPr id="16" name="Rectangle 15"/>
          <p:cNvSpPr/>
          <p:nvPr/>
        </p:nvSpPr>
        <p:spPr>
          <a:xfrm>
            <a:off x="4663440" y="2926080"/>
            <a:ext cx="3017520" cy="1270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3063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1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自然语言追问数据</a:t>
            </a:r>
            <a:endParaRPr altLang="zh-CN"/>
          </a:p>
        </p:txBody>
      </p:sp>
      <p:sp>
        <p:nvSpPr>
          <p:cNvPr id="18" name="TextBox 17"/>
          <p:cNvSpPr txBox="1"/>
          <p:nvPr/>
        </p:nvSpPr>
        <p:spPr>
          <a:xfrm>
            <a:off x="4663440" y="352044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2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从「打电话等 IT」</a:t>
            </a:r>
            <a:br>
              <a:rPr altLang="zh-CN"/>
            </a:br>
            <a:r>
              <a:rPr altLang="zh-CN"/>
              <a:t>到「打字 5 秒」</a:t>
            </a:r>
            <a:endParaRPr altLang="zh-CN"/>
          </a:p>
        </p:txBody>
      </p:sp>
      <p:sp>
        <p:nvSpPr>
          <p:cNvPr id="19" name="Rectangle 18"/>
          <p:cNvSpPr/>
          <p:nvPr/>
        </p:nvSpPr>
        <p:spPr>
          <a:xfrm>
            <a:off x="4389120" y="5303520"/>
            <a:ext cx="356616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0" y="1828800"/>
            <a:ext cx="3566160" cy="3474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2011680"/>
            <a:ext cx="3017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8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📝  报告写手</a:t>
            </a:r>
            <a:endParaRPr altLang="zh-CN"/>
          </a:p>
        </p:txBody>
      </p:sp>
      <p:sp>
        <p:nvSpPr>
          <p:cNvPr id="22" name="TextBox 21"/>
          <p:cNvSpPr txBox="1"/>
          <p:nvPr/>
        </p:nvSpPr>
        <p:spPr>
          <a:xfrm>
            <a:off x="8503920" y="2514600"/>
            <a:ext cx="3017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技术：通义千问</a:t>
            </a:r>
            <a:endParaRPr altLang="zh-CN"/>
          </a:p>
        </p:txBody>
      </p:sp>
      <p:sp>
        <p:nvSpPr>
          <p:cNvPr id="23" name="Rectangle 22"/>
          <p:cNvSpPr/>
          <p:nvPr/>
        </p:nvSpPr>
        <p:spPr>
          <a:xfrm>
            <a:off x="8503920" y="2926080"/>
            <a:ext cx="3017520" cy="1270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306324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1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一键生成简报</a:t>
            </a:r>
            <a:endParaRPr altLang="zh-CN"/>
          </a:p>
        </p:txBody>
      </p:sp>
      <p:sp>
        <p:nvSpPr>
          <p:cNvPr id="25" name="TextBox 24"/>
          <p:cNvSpPr txBox="1"/>
          <p:nvPr/>
        </p:nvSpPr>
        <p:spPr>
          <a:xfrm>
            <a:off x="8503920" y="3520440"/>
            <a:ext cx="3017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2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从「写 3 天」</a:t>
            </a:r>
            <a:br>
              <a:rPr altLang="zh-CN"/>
            </a:br>
            <a:r>
              <a:rPr altLang="zh-CN"/>
              <a:t>到「3 秒初稿」</a:t>
            </a:r>
            <a:endParaRPr altLang="zh-CN"/>
          </a:p>
        </p:txBody>
      </p:sp>
      <p:sp>
        <p:nvSpPr>
          <p:cNvPr id="26" name="Rectangle 25"/>
          <p:cNvSpPr/>
          <p:nvPr/>
        </p:nvSpPr>
        <p:spPr>
          <a:xfrm>
            <a:off x="8229600" y="5303520"/>
            <a:ext cx="356616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32918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2800" b="1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→</a:t>
            </a:r>
            <a:endParaRPr altLang="zh-CN"/>
          </a:p>
        </p:txBody>
      </p:sp>
      <p:sp>
        <p:nvSpPr>
          <p:cNvPr id="28" name="TextBox 27"/>
          <p:cNvSpPr txBox="1"/>
          <p:nvPr/>
        </p:nvSpPr>
        <p:spPr>
          <a:xfrm>
            <a:off x="8001000" y="3291840"/>
            <a:ext cx="365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2800" b="1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→</a:t>
            </a:r>
            <a:endParaRPr altLang="zh-CN"/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💡 NL2SQL 做了三层安全校验（意图判断 + SELECT-only + 关键字黑名单），让不懂 SQL 的管理层可以放心问——这不是技术难点，是产品意识。</a:t>
            </a:r>
            <a:endParaRPr altLang="zh-CN"/>
          </a:p>
        </p:txBody>
      </p:sp>
      <p:sp>
        <p:nvSpPr>
          <p:cNvPr id="30" name="Rectangle 29"/>
          <p:cNvSpPr/>
          <p:nvPr/>
        </p:nvSpPr>
        <p:spPr>
          <a:xfrm>
            <a:off x="731520" y="6263640"/>
            <a:ext cx="10698480" cy="1905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三个 AI 对应三段链路——各司其职，数据自动衔接。</a:t>
            </a:r>
            <a:endParaRPr altLang="zh-CN"/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3 / 14 页</a:t>
            </a:r>
            <a:endParaRPr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部署到新公司，要配几天？不用配规则。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创新点一：自适应异常检测</a:t>
            </a:r>
            <a:endParaRPr altLang="zh-CN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2377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600" b="1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❌  传统规则方式</a:t>
            </a:r>
            <a:endParaRPr altLang="zh-CN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754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2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• 利润率 &lt; 10%？标红</a:t>
            </a:r>
            <a:br>
              <a:rPr altLang="zh-CN"/>
            </a:br>
            <a:r>
              <a:rPr altLang="zh-CN"/>
              <a:t>• 销售部毛利高、生产部毛利低</a:t>
            </a:r>
            <a:br>
              <a:rPr altLang="zh-CN"/>
            </a:br>
            <a:r>
              <a:rPr altLang="zh-CN"/>
              <a:t>• 同一套规则没法用</a:t>
            </a:r>
            <a:br>
              <a:rPr altLang="zh-CN"/>
            </a:br>
            <a:r>
              <a:rPr altLang="zh-CN"/>
              <a:t>• 换一家公司，几十条阈值全部手工重设</a:t>
            </a:r>
            <a:br>
              <a:rPr altLang="zh-CN"/>
            </a:br>
            <a:r>
              <a:rPr altLang="zh-CN"/>
              <a:t>• 不同部门不同数字——几十行手工配置</a:t>
            </a:r>
            <a:endParaRPr altLang="zh-CN"/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03520" cy="2377440"/>
          </a:xfrm>
          <a:prstGeom prst="roundRect">
            <a:avLst/>
          </a:prstGeom>
          <a:solidFill>
            <a:srgbClr val="F8F3E5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✅  我们的方式：Isolation Forest</a:t>
            </a:r>
            <a:endParaRPr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7548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2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• 不问「超过阈值了吗」</a:t>
            </a:r>
            <a:br>
              <a:rPr altLang="zh-CN"/>
            </a:br>
            <a:r>
              <a:rPr altLang="zh-CN"/>
              <a:t>• 问「这个数字在这个部门的历史数据里</a:t>
            </a:r>
            <a:br>
              <a:rPr altLang="zh-CN"/>
            </a:br>
            <a:r>
              <a:rPr altLang="zh-CN"/>
              <a:t>  看起来奇怪吗」</a:t>
            </a:r>
            <a:br>
              <a:rPr altLang="zh-CN"/>
            </a:br>
            <a:r>
              <a:rPr altLang="zh-CN"/>
              <a:t>• 每个部门的「正常」从数据里自己学</a:t>
            </a:r>
            <a:br>
              <a:rPr altLang="zh-CN"/>
            </a:br>
            <a:r>
              <a:rPr altLang="zh-CN"/>
              <a:t>• 同一套算法，各自识别各自的标准</a:t>
            </a:r>
            <a:endParaRPr altLang="zh-CN"/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10698480" cy="1905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3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🛡️ 每个部门、每个指标，「正常」的定义从数据里自己学</a:t>
            </a:r>
            <a:br>
              <a:rPr altLang="zh-CN"/>
            </a:br>
            <a:r>
              <a:rPr altLang="zh-CN"/>
              <a:t>🛡️ 销售部的异常标准由销售部自己的历史数据决定——同一套算法，各自识别</a:t>
            </a:r>
            <a:br>
              <a:rPr altLang="zh-CN"/>
            </a:br>
            <a:r>
              <a:rPr altLang="zh-CN"/>
              <a:t>🛡️ 凌晨导入数据，早上就能开始告警。不需要为每个部门手写阈值规则——这才是真正省掉的工作量</a:t>
            </a:r>
            <a:endParaRPr altLang="zh-CN"/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698480" cy="1905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Isolation Forest 不问「超过阈值了吗」——它问「这个数字在这个部门的历史数据里看起来奇怪吗」。</a:t>
            </a:r>
            <a:endParaRPr altLang="zh-CN"/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4 / 14 页</a:t>
            </a:r>
            <a:endParaRPr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报告生成 AI 知道你刚检测出了什么异常吗？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创新点二：AI 之间的暗线——上下文自动传递机制</a:t>
            </a:r>
            <a:endParaRPr altLang="zh-CN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303520" cy="21945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600" b="1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❌  各自为政（常见做法）</a:t>
            </a:r>
            <a:endParaRPr altLang="zh-CN"/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2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[异常检测 AI]   ——X——   [报告生成 AI]</a:t>
            </a:r>
            <a:br>
              <a:rPr altLang="zh-CN"/>
            </a:br>
            <a:br>
              <a:rPr altLang="zh-CN"/>
            </a:br>
            <a:r>
              <a:rPr altLang="zh-CN"/>
              <a:t>异常检测发现「销售部 6 月应收账款偏离 32%」</a:t>
            </a:r>
            <a:br>
              <a:rPr altLang="zh-CN"/>
            </a:br>
            <a:r>
              <a:rPr altLang="zh-CN"/>
              <a:t>但报告生成器不知道——它只会写</a:t>
            </a:r>
            <a:br>
              <a:rPr altLang="zh-CN"/>
            </a:br>
            <a:r>
              <a:rPr altLang="zh-CN"/>
              <a:t>「应收账款环比增长，需关注」</a:t>
            </a:r>
            <a:endParaRPr altLang="zh-CN"/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303520" cy="2194560"/>
          </a:xfrm>
          <a:prstGeom prst="roundRect">
            <a:avLst/>
          </a:prstGeom>
          <a:solidFill>
            <a:srgbClr val="F8F3E5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✅  我们的方式（暗线传递）</a:t>
            </a:r>
            <a:endParaRPr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2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[异常检测] → 结构化 JSON → [报告生成 Prompt]</a:t>
            </a:r>
            <a:br>
              <a:rPr altLang="zh-CN"/>
            </a:br>
            <a:br>
              <a:rPr altLang="zh-CN"/>
            </a:br>
            <a:r>
              <a:rPr altLang="zh-CN"/>
              <a:t>报告写手动笔之前已经知道：</a:t>
            </a:r>
            <a:br>
              <a:rPr altLang="zh-CN"/>
            </a:br>
            <a:r>
              <a:rPr altLang="zh-CN"/>
              <a:t>• 本月有几个异常</a:t>
            </a:r>
            <a:br>
              <a:rPr altLang="zh-CN"/>
            </a:br>
            <a:r>
              <a:rPr altLang="zh-CN"/>
              <a:t>• 分别是什么级别（高/中/低风险）</a:t>
            </a:r>
            <a:br>
              <a:rPr altLang="zh-CN"/>
            </a:br>
            <a:r>
              <a:rPr altLang="zh-CN"/>
              <a:t>• 哪个指标哪个部门偏离了多少</a:t>
            </a:r>
            <a:endParaRPr altLang="zh-CN"/>
          </a:p>
        </p:txBody>
      </p:sp>
      <p:sp>
        <p:nvSpPr>
          <p:cNvPr id="13" name="Rounded Rectangle 12"/>
          <p:cNvSpPr/>
          <p:nvPr/>
        </p:nvSpPr>
        <p:spPr>
          <a:xfrm>
            <a:off x="2286000" y="4389120"/>
            <a:ext cx="7589520" cy="640080"/>
          </a:xfrm>
          <a:prstGeom prst="roundRect">
            <a:avLst/>
          </a:prstGeom>
          <a:solidFill>
            <a:srgbClr val="FDFBF5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4480560"/>
            <a:ext cx="7040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2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报告生成 prompt ← 部门数据 + 异常检测结果（风险等级、偏离度、影响判断）</a:t>
            </a:r>
            <a:endParaRPr altLang="zh-CN"/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698480" cy="1905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不是两个 AI 各做各的——异常检测是报告生成的「眼睛」。报告写手动笔之前已经知道一切。</a:t>
            </a:r>
            <a:endParaRPr altLang="zh-CN"/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5 / 14 页</a:t>
            </a:r>
            <a:endParaRPr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从「异常找人」到「人追问数据」到「一键出报告」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创新点三：三段式工作流重构——完整闭环</a:t>
            </a:r>
            <a:endParaRPr altLang="zh-CN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78308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1600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3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🛡️</a:t>
            </a:r>
            <a:br>
              <a:rPr altLang="zh-CN"/>
            </a:br>
            <a:r>
              <a:rPr altLang="zh-CN"/>
              <a:t>数据哨兵</a:t>
            </a:r>
            <a:endParaRPr altLang="zh-CN"/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600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ML 自动</a:t>
            </a:r>
            <a:br>
              <a:rPr altLang="zh-CN"/>
            </a:br>
            <a:r>
              <a:rPr altLang="zh-CN"/>
              <a:t>扫描异常</a:t>
            </a:r>
            <a:endParaRPr altLang="zh-CN"/>
          </a:p>
        </p:txBody>
      </p:sp>
      <p:sp>
        <p:nvSpPr>
          <p:cNvPr id="10" name="TextBox 9"/>
          <p:cNvSpPr txBox="1"/>
          <p:nvPr/>
        </p:nvSpPr>
        <p:spPr>
          <a:xfrm>
            <a:off x="2423160" y="228600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000" b="1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↓</a:t>
            </a:r>
            <a:br>
              <a:rPr altLang="zh-CN"/>
            </a:br>
            <a:r>
              <a:rPr altLang="zh-CN"/>
              <a:t>异常结果</a:t>
            </a:r>
            <a:br>
              <a:rPr altLang="zh-CN"/>
            </a:br>
            <a:r>
              <a:rPr altLang="zh-CN"/>
              <a:t>自动注入</a:t>
            </a:r>
            <a:endParaRPr altLang="zh-CN"/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178308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20240"/>
            <a:ext cx="1600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3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🌉</a:t>
            </a:r>
            <a:br>
              <a:rPr altLang="zh-CN"/>
            </a:br>
            <a:r>
              <a:rPr altLang="zh-CN"/>
              <a:t>数据翻译官</a:t>
            </a:r>
            <a:endParaRPr altLang="zh-CN"/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1600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自然语言</a:t>
            </a:r>
            <a:br>
              <a:rPr altLang="zh-CN"/>
            </a:br>
            <a:r>
              <a:rPr altLang="zh-CN"/>
              <a:t>追问异常</a:t>
            </a:r>
            <a:endParaRPr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6355079" y="228600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000" b="1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↓</a:t>
            </a:r>
            <a:br>
              <a:rPr altLang="zh-CN"/>
            </a:br>
            <a:r>
              <a:rPr altLang="zh-CN"/>
              <a:t>追问+数据</a:t>
            </a:r>
            <a:br>
              <a:rPr altLang="zh-CN"/>
            </a:br>
            <a:r>
              <a:rPr altLang="zh-CN"/>
              <a:t>同时注入</a:t>
            </a:r>
            <a:endParaRPr altLang="zh-CN"/>
          </a:p>
        </p:txBody>
      </p:sp>
      <p:sp>
        <p:nvSpPr>
          <p:cNvPr id="15" name="Rounded Rectangle 14"/>
          <p:cNvSpPr/>
          <p:nvPr/>
        </p:nvSpPr>
        <p:spPr>
          <a:xfrm>
            <a:off x="8321040" y="1828800"/>
            <a:ext cx="1783080" cy="1645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1600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3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📝</a:t>
            </a:r>
            <a:br>
              <a:rPr altLang="zh-CN"/>
            </a:br>
            <a:r>
              <a:rPr altLang="zh-CN"/>
              <a:t>报告写手</a:t>
            </a:r>
            <a:endParaRPr altLang="zh-CN"/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1600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一键生成简报</a:t>
            </a:r>
            <a:br>
              <a:rPr altLang="zh-CN"/>
            </a:br>
            <a:r>
              <a:rPr altLang="zh-CN"/>
              <a:t>知异常·知原因</a:t>
            </a:r>
            <a:endParaRPr altLang="zh-CN"/>
          </a:p>
        </p:txBody>
      </p:sp>
      <p:sp>
        <p:nvSpPr>
          <p:cNvPr id="18" name="TextBox 17"/>
          <p:cNvSpPr txBox="1"/>
          <p:nvPr/>
        </p:nvSpPr>
        <p:spPr>
          <a:xfrm>
            <a:off x="10287000" y="2286000"/>
            <a:ext cx="1645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000" b="1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→</a:t>
            </a:r>
            <a:br>
              <a:rPr altLang="zh-CN"/>
            </a:br>
            <a:r>
              <a:rPr altLang="zh-CN"/>
              <a:t>管理层</a:t>
            </a:r>
            <a:endParaRPr altLang="zh-CN"/>
          </a:p>
        </p:txBody>
      </p:sp>
      <p:sp>
        <p:nvSpPr>
          <p:cNvPr id="19" name="Rounded Rectangle 18"/>
          <p:cNvSpPr/>
          <p:nvPr/>
        </p:nvSpPr>
        <p:spPr>
          <a:xfrm>
            <a:off x="3200400" y="3931920"/>
            <a:ext cx="5760720" cy="502920"/>
          </a:xfrm>
          <a:prstGeom prst="roundRect">
            <a:avLst/>
          </a:prstGeom>
          <a:solidFill>
            <a:srgbClr val="F8F3E5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959352"/>
            <a:ext cx="53949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🔄  一个平台 · 三个 AI · 零人工衔接  ——  闭环自动流转</a:t>
            </a:r>
            <a:endParaRPr altLang="zh-CN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1033272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[数据哨兵] ML 自动扫描异常</a:t>
            </a:r>
            <a:br>
              <a:rPr altLang="zh-CN"/>
            </a:br>
            <a:r>
              <a:rPr altLang="zh-CN"/>
              <a:t>       ↓ 异常结果自动注入</a:t>
            </a:r>
            <a:br>
              <a:rPr altLang="zh-CN"/>
            </a:br>
            <a:r>
              <a:rPr altLang="zh-CN"/>
              <a:t>[数据翻译官] 管理层用自然语言追问异常细节</a:t>
            </a:r>
            <a:br>
              <a:rPr altLang="zh-CN"/>
            </a:br>
            <a:r>
              <a:rPr altLang="zh-CN"/>
              <a:t>       ↓ 追问结果 + 异常数据 + 部门指标同时注入</a:t>
            </a:r>
            <a:br>
              <a:rPr altLang="zh-CN"/>
            </a:br>
            <a:r>
              <a:rPr altLang="zh-CN"/>
              <a:t>[报告写手] 一键生成简报——知道自己写的东西里有什么异常、为什么异常、应该怎么办</a:t>
            </a:r>
            <a:endParaRPr altLang="zh-CN"/>
          </a:p>
        </p:txBody>
      </p:sp>
      <p:sp>
        <p:nvSpPr>
          <p:cNvPr id="22" name="Rectangle 21"/>
          <p:cNvSpPr/>
          <p:nvPr/>
        </p:nvSpPr>
        <p:spPr>
          <a:xfrm>
            <a:off x="731520" y="6263640"/>
            <a:ext cx="10698480" cy="1905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不是在「某个环节用了一下 AI」——是用三个 AI 重构了整条经营分析链。</a:t>
            </a:r>
            <a:endParaRPr altLang="zh-CN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6 / 14 页</a:t>
            </a:r>
            <a:endParaRPr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一页讲清楚前后端 + AI 服务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0332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73152" cy="9144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前端  Vue 3 + Vite + Tailwind CSS + ECharts</a:t>
            </a:r>
            <a:endParaRPr altLang="zh-CN"/>
          </a:p>
        </p:txBody>
      </p:sp>
      <p:sp>
        <p:nvSpPr>
          <p:cNvPr id="9" name="TextBox 8"/>
          <p:cNvSpPr txBox="1"/>
          <p:nvPr/>
        </p:nvSpPr>
        <p:spPr>
          <a:xfrm>
            <a:off x="5943600" y="192024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3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仪表盘 / 智能问数 / 简报展示</a:t>
            </a:r>
            <a:endParaRPr altLang="zh-CN"/>
          </a:p>
        </p:txBody>
      </p:sp>
      <p:sp>
        <p:nvSpPr>
          <p:cNvPr id="10" name="Rounded Rectangle 9"/>
          <p:cNvSpPr/>
          <p:nvPr/>
        </p:nvSpPr>
        <p:spPr>
          <a:xfrm>
            <a:off x="914400" y="2926080"/>
            <a:ext cx="10332720" cy="914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926080"/>
            <a:ext cx="73152" cy="9144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017520"/>
            <a:ext cx="4572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后端  Python FastAPI + SQLAlchemy</a:t>
            </a:r>
            <a:endParaRPr altLang="zh-CN"/>
          </a:p>
        </p:txBody>
      </p:sp>
      <p:sp>
        <p:nvSpPr>
          <p:cNvPr id="13" name="TextBox 12"/>
          <p:cNvSpPr txBox="1"/>
          <p:nvPr/>
        </p:nvSpPr>
        <p:spPr>
          <a:xfrm>
            <a:off x="5943600" y="3017520"/>
            <a:ext cx="5029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3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7 个 API 端点 + 权限校验 + 数据聚合</a:t>
            </a:r>
            <a:endParaRPr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5669280" y="2788920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800" b="1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↓</a:t>
            </a:r>
            <a:endParaRPr altLang="zh-CN"/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34747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29768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SQLite</a:t>
            </a:r>
            <a:endParaRPr altLang="zh-CN"/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3 部门 × 24 月</a:t>
            </a:r>
            <a:br>
              <a:rPr altLang="zh-CN"/>
            </a:br>
            <a:r>
              <a:rPr altLang="zh-CN"/>
              <a:t>6 项经营指标</a:t>
            </a:r>
            <a:endParaRPr altLang="zh-CN"/>
          </a:p>
        </p:txBody>
      </p:sp>
      <p:sp>
        <p:nvSpPr>
          <p:cNvPr id="18" name="Rounded Rectangle 17"/>
          <p:cNvSpPr/>
          <p:nvPr/>
        </p:nvSpPr>
        <p:spPr>
          <a:xfrm>
            <a:off x="4663440" y="4206240"/>
            <a:ext cx="34747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29768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scikit-learn</a:t>
            </a:r>
            <a:br>
              <a:rPr altLang="zh-CN"/>
            </a:br>
            <a:r>
              <a:rPr altLang="zh-CN"/>
              <a:t>Isolation Forest</a:t>
            </a:r>
            <a:endParaRPr altLang="zh-CN"/>
          </a:p>
        </p:txBody>
      </p:sp>
      <p:sp>
        <p:nvSpPr>
          <p:cNvPr id="20" name="TextBox 19"/>
          <p:cNvSpPr txBox="1"/>
          <p:nvPr/>
        </p:nvSpPr>
        <p:spPr>
          <a:xfrm>
            <a:off x="4846320" y="49377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ML 异常检测</a:t>
            </a:r>
            <a:br>
              <a:rPr altLang="zh-CN"/>
            </a:br>
            <a:r>
              <a:rPr altLang="zh-CN"/>
              <a:t>+ Z-score 验证</a:t>
            </a:r>
            <a:endParaRPr altLang="zh-CN"/>
          </a:p>
        </p:txBody>
      </p:sp>
      <p:sp>
        <p:nvSpPr>
          <p:cNvPr id="21" name="Rounded Rectangle 20"/>
          <p:cNvSpPr/>
          <p:nvPr/>
        </p:nvSpPr>
        <p:spPr>
          <a:xfrm>
            <a:off x="8412480" y="4206240"/>
            <a:ext cx="3474720" cy="14630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429768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通义千问 qwen-plus</a:t>
            </a:r>
            <a:br>
              <a:rPr altLang="zh-CN"/>
            </a:br>
            <a:r>
              <a:rPr altLang="zh-CN"/>
              <a:t>/ DeepSeek 备选</a:t>
            </a:r>
            <a:endParaRPr altLang="zh-CN"/>
          </a:p>
        </p:txBody>
      </p:sp>
      <p:sp>
        <p:nvSpPr>
          <p:cNvPr id="23" name="TextBox 22"/>
          <p:cNvSpPr txBox="1"/>
          <p:nvPr/>
        </p:nvSpPr>
        <p:spPr>
          <a:xfrm>
            <a:off x="8595360" y="4937760"/>
            <a:ext cx="31089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NL2SQL + 数据解读</a:t>
            </a:r>
            <a:br>
              <a:rPr altLang="zh-CN"/>
            </a:br>
            <a:r>
              <a:rPr altLang="zh-CN"/>
              <a:t>+ 简报生成</a:t>
            </a:r>
            <a:endParaRPr altLang="zh-CN"/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0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💡 本地 ML 模型不依赖外部 API。LLM 支持降级切换。最简情况下，NL2SQL + 简报生成仍满足「AI 应用」要求。</a:t>
            </a:r>
            <a:endParaRPr altLang="zh-CN"/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7 / 14 页</a:t>
            </a:r>
            <a:endParaRPr alt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经营分析驾驶舱 —— 一屏看全局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产品演示</a:t>
            </a:r>
            <a:endParaRPr altLang="zh-CN"/>
          </a:p>
        </p:txBody>
      </p:sp>
      <p:pic>
        <p:nvPicPr>
          <p:cNvPr id="7" name="Picture 6" descr="frontend-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6858000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6459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① 6 张 KPI 卡片</a:t>
            </a:r>
            <a:endParaRPr altLang="zh-CN"/>
          </a:p>
        </p:txBody>
      </p:sp>
      <p:sp>
        <p:nvSpPr>
          <p:cNvPr id="9" name="TextBox 8"/>
          <p:cNvSpPr txBox="1"/>
          <p:nvPr/>
        </p:nvSpPr>
        <p:spPr>
          <a:xfrm>
            <a:off x="7589520" y="196596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收入、成本、净利润、运营费用、</a:t>
            </a:r>
            <a:br>
              <a:rPr altLang="zh-CN"/>
            </a:br>
            <a:r>
              <a:rPr altLang="zh-CN"/>
              <a:t>现金流、应收账款</a:t>
            </a:r>
            <a:br>
              <a:rPr altLang="zh-CN"/>
            </a:br>
            <a:r>
              <a:rPr altLang="zh-CN"/>
              <a:t>实时从 SQLite 查询</a:t>
            </a:r>
            <a:endParaRPr altLang="zh-CN"/>
          </a:p>
        </p:txBody>
      </p:sp>
      <p:sp>
        <p:nvSpPr>
          <p:cNvPr id="10" name="Rectangle 9"/>
          <p:cNvSpPr/>
          <p:nvPr/>
        </p:nvSpPr>
        <p:spPr>
          <a:xfrm>
            <a:off x="7589520" y="3108960"/>
            <a:ext cx="3200400" cy="1270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333756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② 月度趋势折线图</a:t>
            </a:r>
            <a:endParaRPr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7589520" y="365760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三条线（收入/成本/净利润）</a:t>
            </a:r>
            <a:br>
              <a:rPr altLang="zh-CN"/>
            </a:br>
            <a:r>
              <a:rPr altLang="zh-CN"/>
              <a:t>支持切换部门、年份</a:t>
            </a:r>
            <a:br>
              <a:rPr altLang="zh-CN"/>
            </a:br>
            <a:r>
              <a:rPr altLang="zh-CN"/>
              <a:t>数据全部联动刷新</a:t>
            </a:r>
            <a:endParaRPr altLang="zh-CN"/>
          </a:p>
        </p:txBody>
      </p:sp>
      <p:sp>
        <p:nvSpPr>
          <p:cNvPr id="13" name="Rectangle 12"/>
          <p:cNvSpPr/>
          <p:nvPr/>
        </p:nvSpPr>
        <p:spPr>
          <a:xfrm>
            <a:off x="7589520" y="4800600"/>
            <a:ext cx="3200400" cy="1270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502920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③ 异常预警</a:t>
            </a:r>
            <a:endParaRPr altLang="zh-CN"/>
          </a:p>
        </p:txBody>
      </p:sp>
      <p:sp>
        <p:nvSpPr>
          <p:cNvPr id="15" name="TextBox 14"/>
          <p:cNvSpPr txBox="1"/>
          <p:nvPr/>
        </p:nvSpPr>
        <p:spPr>
          <a:xfrm>
            <a:off x="7589520" y="5349240"/>
            <a:ext cx="41148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🔴 高风险（红底卡片）</a:t>
            </a:r>
            <a:br>
              <a:rPr altLang="zh-CN"/>
            </a:br>
            <a:r>
              <a:rPr altLang="zh-CN"/>
              <a:t>🟠 中风险（橙底卡片）</a:t>
            </a:r>
            <a:br>
              <a:rPr altLang="zh-CN"/>
            </a:br>
            <a:r>
              <a:rPr altLang="zh-CN"/>
              <a:t>显示实际值 vs 预期范围、偏离百分比</a:t>
            </a:r>
            <a:endParaRPr altLang="zh-CN"/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698480" cy="1905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截图来自实际运行系统，不是原型图。</a:t>
            </a:r>
            <a:endParaRPr altLang="zh-CN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8 / 14 页</a:t>
            </a:r>
            <a:endParaRPr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左边打字问数，右边一键出报告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产品演示</a:t>
            </a:r>
            <a:endParaRPr altLang="zh-CN"/>
          </a:p>
        </p:txBody>
      </p:sp>
      <p:pic>
        <p:nvPicPr>
          <p:cNvPr id="7" name="Picture 6" descr="nl2sql-dem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5303520" cy="3474720"/>
          </a:xfrm>
          <a:prstGeom prst="rect">
            <a:avLst/>
          </a:prstGeom>
        </p:spPr>
      </p:pic>
      <p:pic>
        <p:nvPicPr>
          <p:cNvPr id="8" name="Picture 7" descr="report-v2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76072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1143000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💬  智能问数</a:t>
            </a:r>
            <a:endParaRPr altLang="zh-CN"/>
          </a:p>
        </p:txBody>
      </p:sp>
      <p:sp>
        <p:nvSpPr>
          <p:cNvPr id="10" name="TextBox 9"/>
          <p:cNvSpPr txBox="1"/>
          <p:nvPr/>
        </p:nvSpPr>
        <p:spPr>
          <a:xfrm>
            <a:off x="5943600" y="1143000"/>
            <a:ext cx="5760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📄  经营简报</a:t>
            </a:r>
            <a:endParaRPr altLang="zh-CN"/>
          </a:p>
        </p:txBody>
      </p:sp>
      <p:sp>
        <p:nvSpPr>
          <p:cNvPr id="11" name="TextBox 10"/>
          <p:cNvSpPr txBox="1"/>
          <p:nvPr/>
        </p:nvSpPr>
        <p:spPr>
          <a:xfrm>
            <a:off x="365760" y="5120640"/>
            <a:ext cx="53035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• 自然语言 → SQL（深色代码块，可见可审查）</a:t>
            </a:r>
            <a:br>
              <a:rPr altLang="zh-CN"/>
            </a:br>
            <a:r>
              <a:rPr altLang="zh-CN"/>
              <a:t>• 查询结果表格 + AI 通俗解释</a:t>
            </a:r>
            <a:br>
              <a:rPr altLang="zh-CN"/>
            </a:br>
            <a:r>
              <a:rPr altLang="zh-CN"/>
              <a:t>• 支持追问，连续对话</a:t>
            </a:r>
            <a:endParaRPr altLang="zh-CN"/>
          </a:p>
        </p:txBody>
      </p:sp>
      <p:sp>
        <p:nvSpPr>
          <p:cNvPr id="12" name="TextBox 11"/>
          <p:cNvSpPr txBox="1"/>
          <p:nvPr/>
        </p:nvSpPr>
        <p:spPr>
          <a:xfrm>
            <a:off x="5943600" y="5120640"/>
            <a:ext cx="5760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• 一键生成四段式简报</a:t>
            </a:r>
            <a:br>
              <a:rPr altLang="zh-CN"/>
            </a:br>
            <a:r>
              <a:rPr altLang="zh-CN"/>
              <a:t>  （总体概况 / 分部门分析 / 异常预警 / 行动建议）</a:t>
            </a:r>
            <a:br>
              <a:rPr altLang="zh-CN"/>
            </a:br>
            <a:r>
              <a:rPr altLang="zh-CN"/>
              <a:t>• 导出 ZIP：HTML 报告 + 4 张高清图表 + CSS</a:t>
            </a:r>
            <a:endParaRPr altLang="zh-CN"/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698480" cy="1905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1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传统方式："打电话给财务部，等 20 分钟"。AI 方式："打字，5 秒"。</a:t>
            </a:r>
            <a:endParaRPr altLang="zh-CN"/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9 / 14 页</a:t>
            </a:r>
            <a:endParaRPr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验证的是框架正确性，不是数据规模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269748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2331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5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数据设计</a:t>
            </a:r>
            <a:endParaRPr altLang="zh-CN"/>
          </a:p>
        </p:txBody>
      </p:sp>
      <p:sp>
        <p:nvSpPr>
          <p:cNvPr id="8" name="Rectangle 7"/>
          <p:cNvSpPr/>
          <p:nvPr/>
        </p:nvSpPr>
        <p:spPr>
          <a:xfrm>
            <a:off x="914400" y="2331720"/>
            <a:ext cx="1783080" cy="127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0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3 部门 × 6 指标 × 24 月</a:t>
            </a:r>
            <a:br>
              <a:rPr altLang="zh-CN"/>
            </a:br>
            <a:r>
              <a:rPr altLang="zh-CN"/>
              <a:t>含季节波动+随机噪声+增长趋势</a:t>
            </a:r>
            <a:endParaRPr altLang="zh-CN"/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验证：不是等差数列——</a:t>
            </a:r>
            <a:br>
              <a:rPr altLang="zh-CN"/>
            </a:br>
            <a:r>
              <a:rPr altLang="zh-CN"/>
              <a:t>系统能处理真实数据的 messy 性</a:t>
            </a:r>
            <a:endParaRPr altLang="zh-CN"/>
          </a:p>
        </p:txBody>
      </p:sp>
      <p:sp>
        <p:nvSpPr>
          <p:cNvPr id="11" name="Rounded Rectangle 10"/>
          <p:cNvSpPr/>
          <p:nvPr/>
        </p:nvSpPr>
        <p:spPr>
          <a:xfrm>
            <a:off x="3383280" y="1828800"/>
            <a:ext cx="269748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331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5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指标覆盖</a:t>
            </a:r>
            <a:endParaRPr altLang="zh-CN"/>
          </a:p>
        </p:txBody>
      </p:sp>
      <p:sp>
        <p:nvSpPr>
          <p:cNvPr id="13" name="Rectangle 12"/>
          <p:cNvSpPr/>
          <p:nvPr/>
        </p:nvSpPr>
        <p:spPr>
          <a:xfrm>
            <a:off x="3840480" y="2331720"/>
            <a:ext cx="1783080" cy="127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0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6 个原子指标 + 3 个派生指标</a:t>
            </a:r>
            <a:br>
              <a:rPr altLang="zh-CN"/>
            </a:br>
            <a:r>
              <a:rPr altLang="zh-CN"/>
              <a:t>（毛利率/净利率/毛利）</a:t>
            </a:r>
            <a:endParaRPr altLang="zh-CN"/>
          </a:p>
        </p:txBody>
      </p:sp>
      <p:sp>
        <p:nvSpPr>
          <p:cNvPr id="15" name="TextBox 14"/>
          <p:cNvSpPr txBox="1"/>
          <p:nvPr/>
        </p:nvSpPr>
        <p:spPr>
          <a:xfrm>
            <a:off x="3566160" y="347472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验证：NL2SQL 能动态计算派生指标</a:t>
            </a:r>
            <a:br>
              <a:rPr altLang="zh-CN"/>
            </a:br>
            <a:r>
              <a:rPr altLang="zh-CN"/>
              <a:t>不是简单的字段映射</a:t>
            </a:r>
            <a:endParaRPr altLang="zh-CN"/>
          </a:p>
        </p:txBody>
      </p:sp>
      <p:sp>
        <p:nvSpPr>
          <p:cNvPr id="16" name="Rounded Rectangle 15"/>
          <p:cNvSpPr/>
          <p:nvPr/>
        </p:nvSpPr>
        <p:spPr>
          <a:xfrm>
            <a:off x="6309360" y="1828800"/>
            <a:ext cx="269748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2331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5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测试策略</a:t>
            </a:r>
            <a:endParaRPr altLang="zh-CN"/>
          </a:p>
        </p:txBody>
      </p:sp>
      <p:sp>
        <p:nvSpPr>
          <p:cNvPr id="18" name="Rectangle 17"/>
          <p:cNvSpPr/>
          <p:nvPr/>
        </p:nvSpPr>
        <p:spPr>
          <a:xfrm>
            <a:off x="6766560" y="2331720"/>
            <a:ext cx="1783080" cy="127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0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23 项 pytest</a:t>
            </a:r>
            <a:br>
              <a:rPr altLang="zh-CN"/>
            </a:br>
            <a:r>
              <a:rPr altLang="zh-CN"/>
              <a:t>覆盖 7 个 API 端点全量</a:t>
            </a:r>
            <a:br>
              <a:rPr altLang="zh-CN"/>
            </a:br>
            <a:r>
              <a:rPr altLang="zh-CN"/>
              <a:t>+ 前后端联调</a:t>
            </a:r>
            <a:endParaRPr altLang="zh-CN"/>
          </a:p>
        </p:txBody>
      </p:sp>
      <p:sp>
        <p:nvSpPr>
          <p:cNvPr id="20" name="TextBox 19"/>
          <p:cNvSpPr txBox="1"/>
          <p:nvPr/>
        </p:nvSpPr>
        <p:spPr>
          <a:xfrm>
            <a:off x="6492240" y="347472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验证：核心路径全覆盖</a:t>
            </a:r>
            <a:br>
              <a:rPr altLang="zh-CN"/>
            </a:br>
            <a:r>
              <a:rPr altLang="zh-CN"/>
              <a:t>边界条件有 fallback 兜底</a:t>
            </a:r>
            <a:endParaRPr altLang="zh-CN"/>
          </a:p>
        </p:txBody>
      </p:sp>
      <p:sp>
        <p:nvSpPr>
          <p:cNvPr id="21" name="Rounded Rectangle 20"/>
          <p:cNvSpPr/>
          <p:nvPr/>
        </p:nvSpPr>
        <p:spPr>
          <a:xfrm>
            <a:off x="9235440" y="1828800"/>
            <a:ext cx="2697480" cy="2743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1965960"/>
            <a:ext cx="2331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5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异常检测</a:t>
            </a:r>
            <a:endParaRPr altLang="zh-CN"/>
          </a:p>
        </p:txBody>
      </p:sp>
      <p:sp>
        <p:nvSpPr>
          <p:cNvPr id="23" name="Rectangle 22"/>
          <p:cNvSpPr/>
          <p:nvPr/>
        </p:nvSpPr>
        <p:spPr>
          <a:xfrm>
            <a:off x="9692640" y="2331720"/>
            <a:ext cx="1783080" cy="127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46888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0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Isolation Forest</a:t>
            </a:r>
            <a:br>
              <a:rPr altLang="zh-CN"/>
            </a:br>
            <a:r>
              <a:rPr altLang="zh-CN"/>
              <a:t>+ Z-score 两阶段交叉验证</a:t>
            </a:r>
            <a:endParaRPr altLang="zh-CN"/>
          </a:p>
        </p:txBody>
      </p:sp>
      <p:sp>
        <p:nvSpPr>
          <p:cNvPr id="25" name="TextBox 24"/>
          <p:cNvSpPr txBox="1"/>
          <p:nvPr/>
        </p:nvSpPr>
        <p:spPr>
          <a:xfrm>
            <a:off x="9418320" y="3474720"/>
            <a:ext cx="23317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验证：无监督学习 + 统计检验</a:t>
            </a:r>
            <a:br>
              <a:rPr altLang="zh-CN"/>
            </a:br>
            <a:r>
              <a:rPr altLang="zh-CN"/>
              <a:t>双重确认，降低误报</a:t>
            </a:r>
            <a:endParaRPr altLang="zh-CN"/>
          </a:p>
        </p:txBody>
      </p:sp>
      <p:sp>
        <p:nvSpPr>
          <p:cNvPr id="26" name="Rounded Rectangle 25"/>
          <p:cNvSpPr/>
          <p:nvPr/>
        </p:nvSpPr>
        <p:spPr>
          <a:xfrm>
            <a:off x="457200" y="4846320"/>
            <a:ext cx="11247120" cy="914400"/>
          </a:xfrm>
          <a:prstGeom prst="roundRect">
            <a:avLst/>
          </a:prstGeom>
          <a:solidFill>
            <a:srgbClr val="F8F3E5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937760"/>
            <a:ext cx="106984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1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✅ 2024/2025 两年数据切换    ✅ 降级策略完整（ML 失败→规则兜底，LLM 失败→503 优雅降级）</a:t>
            </a:r>
            <a:br>
              <a:rPr altLang="zh-CN"/>
            </a:br>
            <a:r>
              <a:rPr altLang="zh-CN"/>
              <a:t>✅ 前端三个模块独立渲染，一个挂了其他照常    ✅ 本地 ML 不依赖外部 API，离线可用</a:t>
            </a:r>
            <a:endParaRPr altLang="zh-CN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10 / 14 页</a:t>
            </a:r>
            <a:endParaRPr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不是在「某个环节用了一下 AI」——是三个 AI 重构了整条经营分析链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2880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657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环节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AI 方式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提升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异常发现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月底翻报表，滞后 2-4 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ML 入库即检测，无需人工翻查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从滞后 2-4 周到入库即知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数据查询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打电话→ERP→导出→透视表，20+ 分钟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自然语言输入，5 秒出结果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约 240x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报告生成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收集→做表→手写→排版，2-3 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AI 约 30 秒生成 + 一键导出 ZIP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从 3 天到 30 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11247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不止快——工程深度对比：</a:t>
            </a:r>
            <a:endParaRPr altLang="zh-CN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411480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572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典型 AI Demo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我们的系统</a:t>
                      </a:r>
                    </a:p>
                  </a:txBody>
                  <a:tcPr>
                    <a:solidFill>
                      <a:srgbClr val="9B1B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异常检测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LLM 「帮我看看有没有问题」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ML 无监督学习 + Z-score 交叉验证，本地运行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数据查询安全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LLM 直接生成 SQL 执行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三层防线：意图判断 + SELECT-only + 关键字黑名单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AI 故障时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功能直接不可用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ML 本地兜底 / LLM fallback 切换 / 前端独立渲染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AI 协作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各自独立，互不知情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92524"/>
                          </a:solidFill>
                          <a:latin typeface="微软雅黑" panose="020B0503020204020204" charset="-122"/>
                        </a:defRPr>
                      </a:pPr>
                      <a:r>
                        <a:t>异常输出 → 报告输入，上下文自动传递</a:t>
                      </a:r>
                    </a:p>
                  </a:txBody>
                  <a:tcPr>
                    <a:solidFill>
                      <a:srgbClr val="FDFB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让人做决策，让 AI 做剩下的。</a:t>
            </a:r>
            <a:endParaRPr altLang="zh-CN"/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11 / 14 页</a:t>
            </a:r>
            <a:endParaRPr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2800" b="1">
                <a:solidFill>
                  <a:srgbClr val="9B1B30"/>
                </a:solidFill>
                <a:latin typeface="Noto Serif SC SemiBold" panose="02020200000000000000" charset="-122"/>
              </a:defRPr>
            </a:pPr>
            <a:r>
              <a:rPr altLang="zh-CN"/>
              <a:t>三个 AI 重构经营分析，从「人找数据」到「数据找人」</a:t>
            </a:r>
            <a:endParaRPr altLang="zh-CN"/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8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🛡️  数据哨兵</a:t>
            </a:r>
            <a:endParaRPr altLang="zh-CN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2004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2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ML 自动发现异常</a:t>
            </a:r>
            <a:br>
              <a:rPr altLang="zh-CN"/>
            </a:br>
            <a:r>
              <a:rPr altLang="zh-CN"/>
              <a:t>无需手工设规则</a:t>
            </a:r>
            <a:br>
              <a:rPr altLang="zh-CN"/>
            </a:br>
            <a:r>
              <a:rPr altLang="zh-CN"/>
              <a:t>本地模型，离线可用</a:t>
            </a:r>
            <a:endParaRPr altLang="zh-CN"/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56616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8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🌉  数据翻译官</a:t>
            </a:r>
            <a:endParaRPr altLang="zh-CN"/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2004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2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自然语言查数</a:t>
            </a:r>
            <a:br>
              <a:rPr altLang="zh-CN"/>
            </a:br>
            <a:r>
              <a:rPr altLang="zh-CN"/>
              <a:t>三层安全防线</a:t>
            </a:r>
            <a:br>
              <a:rPr altLang="zh-CN"/>
            </a:br>
            <a:r>
              <a:rPr altLang="zh-CN"/>
              <a:t>让不懂 SQL 的人放心问</a:t>
            </a:r>
            <a:endParaRPr altLang="zh-CN"/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566160" cy="20116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92024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8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📝  报告写手</a:t>
            </a:r>
            <a:endParaRPr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2004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2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30 秒生成简报</a:t>
            </a:r>
            <a:br>
              <a:rPr altLang="zh-CN"/>
            </a:br>
            <a:r>
              <a:rPr altLang="zh-CN"/>
              <a:t>异常检测结果自动注入</a:t>
            </a:r>
            <a:br>
              <a:rPr altLang="zh-CN"/>
            </a:br>
            <a:r>
              <a:rPr altLang="zh-CN"/>
              <a:t>知异常、知原因、知对策</a:t>
            </a:r>
            <a:endParaRPr altLang="zh-CN"/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10698480" cy="1905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80"/>
              </a:spcAft>
              <a:defRPr sz="1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未来方向</a:t>
            </a:r>
            <a:endParaRPr altLang="zh-CN"/>
          </a:p>
        </p:txBody>
      </p:sp>
      <p:sp>
        <p:nvSpPr>
          <p:cNvPr id="17" name="Rounded Rectangle 16"/>
          <p:cNvSpPr/>
          <p:nvPr/>
        </p:nvSpPr>
        <p:spPr>
          <a:xfrm>
            <a:off x="548640" y="4663440"/>
            <a:ext cx="35661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091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3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① 接入真实 ERP 数据源（用友/金蝶 API）</a:t>
            </a:r>
            <a:endParaRPr altLang="zh-CN"/>
          </a:p>
        </p:txBody>
      </p:sp>
      <p:sp>
        <p:nvSpPr>
          <p:cNvPr id="19" name="Rounded Rectangle 18"/>
          <p:cNvSpPr/>
          <p:nvPr/>
        </p:nvSpPr>
        <p:spPr>
          <a:xfrm>
            <a:off x="4389120" y="4663440"/>
            <a:ext cx="35661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7091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3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② 预算对比 + 预测性分析（时间序列预测下月趋势）</a:t>
            </a:r>
            <a:endParaRPr altLang="zh-CN"/>
          </a:p>
        </p:txBody>
      </p:sp>
      <p:sp>
        <p:nvSpPr>
          <p:cNvPr id="21" name="Rounded Rectangle 20"/>
          <p:cNvSpPr/>
          <p:nvPr/>
        </p:nvSpPr>
        <p:spPr>
          <a:xfrm>
            <a:off x="8229600" y="4663440"/>
            <a:ext cx="3566160" cy="5029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8DE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7091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300" b="0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altLang="zh-CN"/>
              <a:t>③ SSE 流式响应——让 AI 「边想边写」</a:t>
            </a:r>
            <a:endParaRPr altLang="zh-CN"/>
          </a:p>
        </p:txBody>
      </p:sp>
      <p:sp>
        <p:nvSpPr>
          <p:cNvPr id="23" name="TextBox 2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24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谢谢各位评委</a:t>
            </a:r>
            <a:endParaRPr altLang="zh-CN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12 / 14 页</a:t>
            </a:r>
            <a:endParaRPr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A9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03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3600" b="1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关于我们</a:t>
            </a:r>
            <a:endParaRPr altLang="zh-CN"/>
          </a:p>
        </p:txBody>
      </p:sp>
      <p:sp>
        <p:nvSpPr>
          <p:cNvPr id="4" name="Rectangle 3"/>
          <p:cNvSpPr/>
          <p:nvPr/>
        </p:nvSpPr>
        <p:spPr>
          <a:xfrm>
            <a:off x="5212080" y="2103120"/>
            <a:ext cx="1737360" cy="38100"/>
          </a:xfrm>
          <a:prstGeom prst="rect">
            <a:avLst/>
          </a:prstGeom>
          <a:solidFill>
            <a:srgbClr val="9B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8503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3200" b="1">
                <a:solidFill>
                  <a:srgbClr val="C8A951"/>
                </a:solidFill>
                <a:latin typeface="微软雅黑 Light" panose="020B0502040204020203" charset="-122"/>
              </a:defRPr>
            </a:pPr>
            <a:r>
              <a:rPr altLang="zh-CN"/>
              <a:t>「析微」</a:t>
            </a:r>
            <a:endParaRPr altLang="zh-CN"/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03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2200" b="1">
                <a:solidFill>
                  <a:srgbClr val="292524"/>
                </a:solidFill>
                <a:latin typeface="微软雅黑 Light" panose="020B0502040204020203" charset="-122"/>
              </a:defRPr>
            </a:pPr>
            <a:r>
              <a:rPr lang="zh-CN"/>
              <a:t>曾正</a:t>
            </a:r>
            <a:r>
              <a:rPr altLang="zh-CN"/>
              <a:t>昊</a:t>
            </a:r>
            <a:endParaRPr altLang="zh-CN"/>
          </a:p>
        </p:txBody>
      </p:sp>
      <p:sp>
        <p:nvSpPr>
          <p:cNvPr id="7" name="TextBox 6"/>
          <p:cNvSpPr txBox="1"/>
          <p:nvPr/>
        </p:nvSpPr>
        <p:spPr>
          <a:xfrm>
            <a:off x="1828800" y="4023360"/>
            <a:ext cx="8503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4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一人团队 · 全栈独立开发</a:t>
            </a:r>
            <a:endParaRPr altLang="zh-CN"/>
          </a:p>
        </p:txBody>
      </p:sp>
      <p:sp>
        <p:nvSpPr>
          <p:cNvPr id="8" name="Rectangle 7"/>
          <p:cNvSpPr/>
          <p:nvPr/>
        </p:nvSpPr>
        <p:spPr>
          <a:xfrm>
            <a:off x="4114800" y="4754880"/>
            <a:ext cx="3931920" cy="1270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937760"/>
            <a:ext cx="8503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800" b="0">
                <a:solidFill>
                  <a:srgbClr val="9B1B30"/>
                </a:solidFill>
                <a:latin typeface="微软雅黑 Light" panose="020B0502040204020203" charset="-122"/>
              </a:defRPr>
            </a:pPr>
            <a:r>
              <a:rPr altLang="zh-CN"/>
              <a:t>江西财经大学</a:t>
            </a:r>
            <a:endParaRPr altLang="zh-CN"/>
          </a:p>
        </p:txBody>
      </p:sp>
      <p:sp>
        <p:nvSpPr>
          <p:cNvPr id="10" name="TextBox 9"/>
          <p:cNvSpPr txBox="1"/>
          <p:nvPr/>
        </p:nvSpPr>
        <p:spPr>
          <a:xfrm>
            <a:off x="1828800" y="5760720"/>
            <a:ext cx="8503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480"/>
              </a:spcAft>
              <a:defRPr sz="13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感谢各位评委的时间与指导</a:t>
            </a:r>
            <a:endParaRPr altLang="zh-CN"/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80"/>
              </a:spcAft>
              <a:defRPr sz="900" b="0">
                <a:solidFill>
                  <a:srgbClr val="5C5550"/>
                </a:solidFill>
                <a:latin typeface="微软雅黑 Light" panose="020B0502040204020203" charset="-122"/>
              </a:defRPr>
            </a:pPr>
            <a:r>
              <a:rPr altLang="zh-CN"/>
              <a:t>第 13 / 14 页</a:t>
            </a:r>
            <a:endParaRPr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3565</Words>
  <Application>WPS 演示</Application>
  <PresentationFormat>On-screen Show (4:3)</PresentationFormat>
  <Paragraphs>376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Serif SC SemiBold</vt:lpstr>
      <vt:lpstr>微软雅黑 Light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孤独为友</cp:lastModifiedBy>
  <cp:revision>3</cp:revision>
  <dcterms:created xsi:type="dcterms:W3CDTF">2013-01-27T09:14:00Z</dcterms:created>
  <dcterms:modified xsi:type="dcterms:W3CDTF">2026-07-05T01:13:55Z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28663095F580438493E05E4FA8F79F94_12</vt:lpwstr>
  </property>
  <property fmtid="{D5CDD505-2E9C-101B-9397-08002B2CF9AE}" pid="3" name="KSOProductBuildVer">
    <vt:lpwstr>2052-12.1.0.20305</vt:lpwstr>
  </property>
</Properties>
</file>